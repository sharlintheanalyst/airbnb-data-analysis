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9"/>
  </p:notesMasterIdLst>
  <p:sldIdLst>
    <p:sldId id="256" r:id="rId2"/>
    <p:sldId id="285" r:id="rId3"/>
    <p:sldId id="280" r:id="rId4"/>
    <p:sldId id="283" r:id="rId5"/>
    <p:sldId id="284" r:id="rId6"/>
    <p:sldId id="281" r:id="rId7"/>
    <p:sldId id="282" r:id="rId8"/>
  </p:sldIdLst>
  <p:sldSz cx="12192000" cy="6858000"/>
  <p:notesSz cx="6858000" cy="9144000"/>
  <p:embeddedFontLst>
    <p:embeddedFont>
      <p:font typeface="Century Gothic" panose="020B0502020202020204" pitchFamily="34" charset="0"/>
      <p:regular r:id="rId10"/>
      <p:bold r:id="rId11"/>
      <p:italic r:id="rId12"/>
      <p:boldItalic r:id="rId13"/>
    </p:embeddedFont>
    <p:embeddedFont>
      <p:font typeface="Karla" panose="020F0502020204030204" pitchFamily="2" charset="0"/>
      <p:regular r:id="rId14"/>
      <p:bold r:id="rId15"/>
      <p:italic r:id="rId16"/>
      <p:boldItalic r:id="rId17"/>
    </p:embeddedFont>
    <p:embeddedFont>
      <p:font typeface="Open Sans Light" panose="020B0306030504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8">
          <p15:clr>
            <a:srgbClr val="A4A3A4"/>
          </p15:clr>
        </p15:guide>
        <p15:guide id="2" pos="6216">
          <p15:clr>
            <a:srgbClr val="A4A3A4"/>
          </p15:clr>
        </p15:guide>
        <p15:guide id="3" pos="1440">
          <p15:clr>
            <a:srgbClr val="A4A3A4"/>
          </p15:clr>
        </p15:guide>
        <p15:guide id="4" orient="horz" pos="2352">
          <p15:clr>
            <a:srgbClr val="A4A3A4"/>
          </p15:clr>
        </p15:guide>
        <p15:guide id="5" orient="horz" pos="936">
          <p15:clr>
            <a:srgbClr val="A4A3A4"/>
          </p15:clr>
        </p15:guide>
        <p15:guide id="6" pos="3840">
          <p15:clr>
            <a:srgbClr val="A4A3A4"/>
          </p15:clr>
        </p15:guide>
        <p15:guide id="7" orient="horz" pos="31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8B95EE-31E1-4348-9D6E-1D30F56D9886}">
  <a:tblStyle styleId="{438B95EE-31E1-4348-9D6E-1D30F56D98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276" y="-390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620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1451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Thank you">
    <p:bg>
      <p:bgPr>
        <a:solidFill>
          <a:schemeClr val="dk2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 b="0" i="0" u="none" strike="noStrike" cap="non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 b="0" i="0" u="none" strike="noStrike" cap="non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"/>
          <p:cNvSpPr>
            <a:spLocks noGrp="1"/>
          </p:cNvSpPr>
          <p:nvPr>
            <p:ph type="pic" idx="2"/>
          </p:nvPr>
        </p:nvSpPr>
        <p:spPr>
          <a:xfrm>
            <a:off x="6443482" y="812292"/>
            <a:ext cx="4636008" cy="4928616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5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838200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ftr" idx="11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dt" idx="10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>
  <p:cSld name="Content with Caption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 b="0" i="0" u="none" strike="noStrike" cap="non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 b="0" i="0" u="none" strike="noStrike" cap="non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>
            <a:spLocks noGrp="1"/>
          </p:cNvSpPr>
          <p:nvPr>
            <p:ph type="pic" idx="2"/>
          </p:nvPr>
        </p:nvSpPr>
        <p:spPr>
          <a:xfrm>
            <a:off x="8296656" y="0"/>
            <a:ext cx="389534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1389888" y="3054096"/>
            <a:ext cx="5010912" cy="213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2" name="Google Shape;62;p6"/>
          <p:cNvCxnSpPr/>
          <p:nvPr/>
        </p:nvCxnSpPr>
        <p:spPr>
          <a:xfrm>
            <a:off x="11276341" y="6528816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" name="Google Shape;63;p6"/>
          <p:cNvSpPr txBox="1">
            <a:spLocks noGrp="1"/>
          </p:cNvSpPr>
          <p:nvPr>
            <p:ph type="sldNum" idx="12"/>
          </p:nvPr>
        </p:nvSpPr>
        <p:spPr>
          <a:xfrm>
            <a:off x="3962400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4" name="Google Shape;64;p6"/>
          <p:cNvGrpSpPr/>
          <p:nvPr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65" name="Google Shape;65;p6"/>
            <p:cNvCxnSpPr/>
            <p:nvPr/>
          </p:nvCxnSpPr>
          <p:spPr>
            <a:xfrm>
              <a:off x="0" y="6527001"/>
              <a:ext cx="3935513" cy="5617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6" name="Google Shape;66;p6"/>
            <p:cNvCxnSpPr/>
            <p:nvPr/>
          </p:nvCxnSpPr>
          <p:spPr>
            <a:xfrm>
              <a:off x="4358640" y="6527001"/>
              <a:ext cx="3935513" cy="5617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accent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 b="0" i="0" u="none" strike="noStrike" cap="non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 b="0" i="0" u="none" strike="noStrike" cap="non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0" name="Google Shape;70;p7"/>
          <p:cNvSpPr txBox="1"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2" name="Google Shape;72;p7"/>
          <p:cNvSpPr>
            <a:spLocks noGrp="1"/>
          </p:cNvSpPr>
          <p:nvPr>
            <p:ph type="pic" idx="2"/>
          </p:nvPr>
        </p:nvSpPr>
        <p:spPr>
          <a:xfrm>
            <a:off x="7246779" y="812292"/>
            <a:ext cx="3834628" cy="4928616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bg>
      <p:bgPr>
        <a:solidFill>
          <a:schemeClr val="accent4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 txBox="1"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7" name="Google Shape;77;p8"/>
          <p:cNvSpPr>
            <a:spLocks noGrp="1"/>
          </p:cNvSpPr>
          <p:nvPr>
            <p:ph type="pic" idx="2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accent3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/>
          <p:nvPr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 b="0" i="0" u="none" strike="noStrike" cap="none">
              <a:solidFill>
                <a:srgbClr val="FAF3D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 b="0" i="0" u="none" strike="noStrike" cap="non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1027874" y="809103"/>
            <a:ext cx="1798955" cy="206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5000"/>
              <a:buNone/>
              <a:defRPr sz="25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body" idx="2"/>
          </p:nvPr>
        </p:nvSpPr>
        <p:spPr>
          <a:xfrm>
            <a:off x="2862072" y="4334256"/>
            <a:ext cx="2340864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body" idx="3"/>
          </p:nvPr>
        </p:nvSpPr>
        <p:spPr>
          <a:xfrm>
            <a:off x="9281160" y="3957272"/>
            <a:ext cx="1798955" cy="206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5000"/>
              <a:buNone/>
              <a:defRPr sz="25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dt" idx="10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ftr" idx="11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sldNum" idx="12"/>
          </p:nvPr>
        </p:nvSpPr>
        <p:spPr>
          <a:xfrm>
            <a:off x="838200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4">
  <p:cSld name="Team x4">
    <p:bg>
      <p:bgPr>
        <a:solidFill>
          <a:schemeClr val="dk2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0"/>
          <p:cNvSpPr/>
          <p:nvPr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4" name="Google Shape;94;p10"/>
          <p:cNvSpPr txBox="1">
            <a:spLocks noGrp="1"/>
          </p:cNvSpPr>
          <p:nvPr>
            <p:ph type="body" idx="1"/>
          </p:nvPr>
        </p:nvSpPr>
        <p:spPr>
          <a:xfrm>
            <a:off x="565816" y="2193042"/>
            <a:ext cx="2514600" cy="3200400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377425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0"/>
          <p:cNvSpPr>
            <a:spLocks noGrp="1"/>
          </p:cNvSpPr>
          <p:nvPr>
            <p:ph type="pic" idx="2"/>
          </p:nvPr>
        </p:nvSpPr>
        <p:spPr>
          <a:xfrm>
            <a:off x="579532" y="2193042"/>
            <a:ext cx="2487168" cy="210312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10"/>
          <p:cNvSpPr txBox="1">
            <a:spLocks noGrp="1"/>
          </p:cNvSpPr>
          <p:nvPr>
            <p:ph type="body" idx="3"/>
          </p:nvPr>
        </p:nvSpPr>
        <p:spPr>
          <a:xfrm>
            <a:off x="580220" y="4846546"/>
            <a:ext cx="25146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0"/>
          <p:cNvSpPr txBox="1">
            <a:spLocks noGrp="1"/>
          </p:cNvSpPr>
          <p:nvPr>
            <p:ph type="body" idx="4"/>
          </p:nvPr>
        </p:nvSpPr>
        <p:spPr>
          <a:xfrm>
            <a:off x="3419856" y="2193042"/>
            <a:ext cx="2514600" cy="3200400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377425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0"/>
          <p:cNvSpPr>
            <a:spLocks noGrp="1"/>
          </p:cNvSpPr>
          <p:nvPr>
            <p:ph type="pic" idx="5"/>
          </p:nvPr>
        </p:nvSpPr>
        <p:spPr>
          <a:xfrm>
            <a:off x="3433572" y="2193042"/>
            <a:ext cx="2487168" cy="210312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0"/>
          <p:cNvSpPr txBox="1">
            <a:spLocks noGrp="1"/>
          </p:cNvSpPr>
          <p:nvPr>
            <p:ph type="body" idx="6"/>
          </p:nvPr>
        </p:nvSpPr>
        <p:spPr>
          <a:xfrm>
            <a:off x="3419856" y="4846546"/>
            <a:ext cx="25146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0"/>
          <p:cNvSpPr txBox="1">
            <a:spLocks noGrp="1"/>
          </p:cNvSpPr>
          <p:nvPr>
            <p:ph type="body" idx="7"/>
          </p:nvPr>
        </p:nvSpPr>
        <p:spPr>
          <a:xfrm>
            <a:off x="6263640" y="2193042"/>
            <a:ext cx="2514600" cy="3200400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377425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0"/>
          <p:cNvSpPr>
            <a:spLocks noGrp="1"/>
          </p:cNvSpPr>
          <p:nvPr>
            <p:ph type="pic" idx="8"/>
          </p:nvPr>
        </p:nvSpPr>
        <p:spPr>
          <a:xfrm>
            <a:off x="6277356" y="2193042"/>
            <a:ext cx="2487168" cy="210312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0"/>
          <p:cNvSpPr txBox="1">
            <a:spLocks noGrp="1"/>
          </p:cNvSpPr>
          <p:nvPr>
            <p:ph type="body" idx="9"/>
          </p:nvPr>
        </p:nvSpPr>
        <p:spPr>
          <a:xfrm>
            <a:off x="6263640" y="4846546"/>
            <a:ext cx="25146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0"/>
          <p:cNvSpPr txBox="1">
            <a:spLocks noGrp="1"/>
          </p:cNvSpPr>
          <p:nvPr>
            <p:ph type="body" idx="13"/>
          </p:nvPr>
        </p:nvSpPr>
        <p:spPr>
          <a:xfrm>
            <a:off x="9107424" y="2169547"/>
            <a:ext cx="2514600" cy="3200400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377425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0"/>
          <p:cNvSpPr>
            <a:spLocks noGrp="1"/>
          </p:cNvSpPr>
          <p:nvPr>
            <p:ph type="pic" idx="14"/>
          </p:nvPr>
        </p:nvSpPr>
        <p:spPr>
          <a:xfrm>
            <a:off x="9121140" y="2169547"/>
            <a:ext cx="2487168" cy="210312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10"/>
          <p:cNvSpPr txBox="1">
            <a:spLocks noGrp="1"/>
          </p:cNvSpPr>
          <p:nvPr>
            <p:ph type="body" idx="15"/>
          </p:nvPr>
        </p:nvSpPr>
        <p:spPr>
          <a:xfrm>
            <a:off x="9107424" y="4846546"/>
            <a:ext cx="25146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6" name="Google Shape;106;p10"/>
          <p:cNvCxnSpPr/>
          <p:nvPr/>
        </p:nvCxnSpPr>
        <p:spPr>
          <a:xfrm>
            <a:off x="0" y="6535885"/>
            <a:ext cx="8382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7" name="Google Shape;107;p10"/>
          <p:cNvCxnSpPr/>
          <p:nvPr/>
        </p:nvCxnSpPr>
        <p:spPr>
          <a:xfrm>
            <a:off x="1205025" y="6535885"/>
            <a:ext cx="416052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8" name="Google Shape;108;p10"/>
          <p:cNvCxnSpPr/>
          <p:nvPr/>
        </p:nvCxnSpPr>
        <p:spPr>
          <a:xfrm>
            <a:off x="6802120" y="6528812"/>
            <a:ext cx="384048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" name="Google Shape;109;p10"/>
          <p:cNvCxnSpPr/>
          <p:nvPr/>
        </p:nvCxnSpPr>
        <p:spPr>
          <a:xfrm>
            <a:off x="11276341" y="6528816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" name="Google Shape;110;p10"/>
          <p:cNvSpPr txBox="1">
            <a:spLocks noGrp="1"/>
          </p:cNvSpPr>
          <p:nvPr>
            <p:ph type="sldNum" idx="12"/>
          </p:nvPr>
        </p:nvSpPr>
        <p:spPr>
          <a:xfrm>
            <a:off x="838200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0"/>
          <p:cNvSpPr txBox="1">
            <a:spLocks noGrp="1"/>
          </p:cNvSpPr>
          <p:nvPr>
            <p:ph type="ftr" idx="11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0"/>
          <p:cNvSpPr txBox="1">
            <a:spLocks noGrp="1"/>
          </p:cNvSpPr>
          <p:nvPr>
            <p:ph type="dt" idx="10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eam x8">
  <p:cSld name="Team x8">
    <p:bg>
      <p:bgPr>
        <a:solidFill>
          <a:schemeClr val="accent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/>
          <p:nvPr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2" name="Google Shape;122;p11"/>
          <p:cNvSpPr txBox="1"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1"/>
          <p:cNvSpPr txBox="1">
            <a:spLocks noGrp="1"/>
          </p:cNvSpPr>
          <p:nvPr>
            <p:ph type="body" idx="1"/>
          </p:nvPr>
        </p:nvSpPr>
        <p:spPr>
          <a:xfrm>
            <a:off x="565816" y="1865376"/>
            <a:ext cx="2514600" cy="20848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49045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1"/>
          <p:cNvSpPr>
            <a:spLocks noGrp="1"/>
          </p:cNvSpPr>
          <p:nvPr>
            <p:ph type="pic" idx="2"/>
          </p:nvPr>
        </p:nvSpPr>
        <p:spPr>
          <a:xfrm>
            <a:off x="579532" y="1874520"/>
            <a:ext cx="2487168" cy="128016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1"/>
          <p:cNvSpPr txBox="1">
            <a:spLocks noGrp="1"/>
          </p:cNvSpPr>
          <p:nvPr>
            <p:ph type="body" idx="3"/>
          </p:nvPr>
        </p:nvSpPr>
        <p:spPr>
          <a:xfrm>
            <a:off x="580220" y="3584901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4"/>
          </p:nvPr>
        </p:nvSpPr>
        <p:spPr>
          <a:xfrm>
            <a:off x="565816" y="4242816"/>
            <a:ext cx="2514600" cy="20848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49045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>
            <a:spLocks noGrp="1"/>
          </p:cNvSpPr>
          <p:nvPr>
            <p:ph type="pic" idx="5"/>
          </p:nvPr>
        </p:nvSpPr>
        <p:spPr>
          <a:xfrm>
            <a:off x="579532" y="4242816"/>
            <a:ext cx="2487168" cy="128016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1"/>
          <p:cNvSpPr txBox="1">
            <a:spLocks noGrp="1"/>
          </p:cNvSpPr>
          <p:nvPr>
            <p:ph type="body" idx="6"/>
          </p:nvPr>
        </p:nvSpPr>
        <p:spPr>
          <a:xfrm>
            <a:off x="580220" y="5947269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body" idx="7"/>
          </p:nvPr>
        </p:nvSpPr>
        <p:spPr>
          <a:xfrm>
            <a:off x="3419856" y="1865376"/>
            <a:ext cx="2514600" cy="20848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49045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1"/>
          <p:cNvSpPr>
            <a:spLocks noGrp="1"/>
          </p:cNvSpPr>
          <p:nvPr>
            <p:ph type="pic" idx="8"/>
          </p:nvPr>
        </p:nvSpPr>
        <p:spPr>
          <a:xfrm>
            <a:off x="3433572" y="1874520"/>
            <a:ext cx="2487168" cy="128016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1"/>
          <p:cNvSpPr txBox="1">
            <a:spLocks noGrp="1"/>
          </p:cNvSpPr>
          <p:nvPr>
            <p:ph type="body" idx="9"/>
          </p:nvPr>
        </p:nvSpPr>
        <p:spPr>
          <a:xfrm>
            <a:off x="3419856" y="3584901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11"/>
          <p:cNvSpPr txBox="1">
            <a:spLocks noGrp="1"/>
          </p:cNvSpPr>
          <p:nvPr>
            <p:ph type="body" idx="13"/>
          </p:nvPr>
        </p:nvSpPr>
        <p:spPr>
          <a:xfrm>
            <a:off x="3419856" y="4242816"/>
            <a:ext cx="2514600" cy="20848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49045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1"/>
          <p:cNvSpPr>
            <a:spLocks noGrp="1"/>
          </p:cNvSpPr>
          <p:nvPr>
            <p:ph type="pic" idx="14"/>
          </p:nvPr>
        </p:nvSpPr>
        <p:spPr>
          <a:xfrm>
            <a:off x="3433572" y="4242816"/>
            <a:ext cx="2487168" cy="128016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1"/>
          <p:cNvSpPr txBox="1">
            <a:spLocks noGrp="1"/>
          </p:cNvSpPr>
          <p:nvPr>
            <p:ph type="body" idx="15"/>
          </p:nvPr>
        </p:nvSpPr>
        <p:spPr>
          <a:xfrm>
            <a:off x="3419856" y="5947269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1"/>
          <p:cNvSpPr txBox="1">
            <a:spLocks noGrp="1"/>
          </p:cNvSpPr>
          <p:nvPr>
            <p:ph type="body" idx="16"/>
          </p:nvPr>
        </p:nvSpPr>
        <p:spPr>
          <a:xfrm>
            <a:off x="6263640" y="1865376"/>
            <a:ext cx="2514600" cy="20848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49045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1"/>
          <p:cNvSpPr>
            <a:spLocks noGrp="1"/>
          </p:cNvSpPr>
          <p:nvPr>
            <p:ph type="pic" idx="17"/>
          </p:nvPr>
        </p:nvSpPr>
        <p:spPr>
          <a:xfrm>
            <a:off x="6277356" y="1874520"/>
            <a:ext cx="2487168" cy="128016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1"/>
          <p:cNvSpPr txBox="1">
            <a:spLocks noGrp="1"/>
          </p:cNvSpPr>
          <p:nvPr>
            <p:ph type="body" idx="18"/>
          </p:nvPr>
        </p:nvSpPr>
        <p:spPr>
          <a:xfrm>
            <a:off x="6263640" y="3584901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body" idx="19"/>
          </p:nvPr>
        </p:nvSpPr>
        <p:spPr>
          <a:xfrm>
            <a:off x="6263640" y="4242816"/>
            <a:ext cx="2514600" cy="20848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49045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11"/>
          <p:cNvSpPr>
            <a:spLocks noGrp="1"/>
          </p:cNvSpPr>
          <p:nvPr>
            <p:ph type="pic" idx="20"/>
          </p:nvPr>
        </p:nvSpPr>
        <p:spPr>
          <a:xfrm>
            <a:off x="6277356" y="4242816"/>
            <a:ext cx="2487168" cy="128016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1"/>
          <p:cNvSpPr txBox="1">
            <a:spLocks noGrp="1"/>
          </p:cNvSpPr>
          <p:nvPr>
            <p:ph type="body" idx="21"/>
          </p:nvPr>
        </p:nvSpPr>
        <p:spPr>
          <a:xfrm>
            <a:off x="6263640" y="5947269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1"/>
          <p:cNvSpPr txBox="1">
            <a:spLocks noGrp="1"/>
          </p:cNvSpPr>
          <p:nvPr>
            <p:ph type="body" idx="22"/>
          </p:nvPr>
        </p:nvSpPr>
        <p:spPr>
          <a:xfrm>
            <a:off x="9107424" y="1865376"/>
            <a:ext cx="2514600" cy="20848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49045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1"/>
          <p:cNvSpPr>
            <a:spLocks noGrp="1"/>
          </p:cNvSpPr>
          <p:nvPr>
            <p:ph type="pic" idx="23"/>
          </p:nvPr>
        </p:nvSpPr>
        <p:spPr>
          <a:xfrm>
            <a:off x="9121140" y="1874520"/>
            <a:ext cx="2487168" cy="128016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1"/>
          <p:cNvSpPr txBox="1">
            <a:spLocks noGrp="1"/>
          </p:cNvSpPr>
          <p:nvPr>
            <p:ph type="body" idx="24"/>
          </p:nvPr>
        </p:nvSpPr>
        <p:spPr>
          <a:xfrm>
            <a:off x="9107424" y="3584901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1"/>
          <p:cNvSpPr txBox="1">
            <a:spLocks noGrp="1"/>
          </p:cNvSpPr>
          <p:nvPr>
            <p:ph type="body" idx="25"/>
          </p:nvPr>
        </p:nvSpPr>
        <p:spPr>
          <a:xfrm>
            <a:off x="9107424" y="4242816"/>
            <a:ext cx="2514600" cy="20848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49045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1"/>
          <p:cNvSpPr>
            <a:spLocks noGrp="1"/>
          </p:cNvSpPr>
          <p:nvPr>
            <p:ph type="pic" idx="26"/>
          </p:nvPr>
        </p:nvSpPr>
        <p:spPr>
          <a:xfrm>
            <a:off x="9121140" y="4242816"/>
            <a:ext cx="2487168" cy="128016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1"/>
          <p:cNvSpPr txBox="1">
            <a:spLocks noGrp="1"/>
          </p:cNvSpPr>
          <p:nvPr>
            <p:ph type="body" idx="27"/>
          </p:nvPr>
        </p:nvSpPr>
        <p:spPr>
          <a:xfrm>
            <a:off x="9107424" y="5947269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ist">
  <p:cSld name="List">
    <p:bg>
      <p:bgPr>
        <a:solidFill>
          <a:schemeClr val="accent4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9" name="Google Shape;169;p12"/>
          <p:cNvSpPr>
            <a:spLocks noGrp="1"/>
          </p:cNvSpPr>
          <p:nvPr>
            <p:ph type="pic" idx="2"/>
          </p:nvPr>
        </p:nvSpPr>
        <p:spPr>
          <a:xfrm>
            <a:off x="4455524" y="467895"/>
            <a:ext cx="640080" cy="64008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12"/>
          <p:cNvSpPr txBox="1">
            <a:spLocks noGrp="1"/>
          </p:cNvSpPr>
          <p:nvPr>
            <p:ph type="body" idx="1"/>
          </p:nvPr>
        </p:nvSpPr>
        <p:spPr>
          <a:xfrm>
            <a:off x="5769864" y="457200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body" idx="3"/>
          </p:nvPr>
        </p:nvSpPr>
        <p:spPr>
          <a:xfrm>
            <a:off x="5769864" y="780642"/>
            <a:ext cx="5029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12"/>
          <p:cNvSpPr>
            <a:spLocks noGrp="1"/>
          </p:cNvSpPr>
          <p:nvPr>
            <p:ph type="pic" idx="4"/>
          </p:nvPr>
        </p:nvSpPr>
        <p:spPr>
          <a:xfrm>
            <a:off x="4455524" y="1744522"/>
            <a:ext cx="640080" cy="64008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12"/>
          <p:cNvSpPr txBox="1">
            <a:spLocks noGrp="1"/>
          </p:cNvSpPr>
          <p:nvPr>
            <p:ph type="body" idx="5"/>
          </p:nvPr>
        </p:nvSpPr>
        <p:spPr>
          <a:xfrm>
            <a:off x="5769864" y="1746504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12"/>
          <p:cNvSpPr txBox="1">
            <a:spLocks noGrp="1"/>
          </p:cNvSpPr>
          <p:nvPr>
            <p:ph type="body" idx="6"/>
          </p:nvPr>
        </p:nvSpPr>
        <p:spPr>
          <a:xfrm>
            <a:off x="5769864" y="2069946"/>
            <a:ext cx="5029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12"/>
          <p:cNvSpPr>
            <a:spLocks noGrp="1"/>
          </p:cNvSpPr>
          <p:nvPr>
            <p:ph type="pic" idx="7"/>
          </p:nvPr>
        </p:nvSpPr>
        <p:spPr>
          <a:xfrm>
            <a:off x="4455524" y="3034028"/>
            <a:ext cx="640080" cy="64008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12"/>
          <p:cNvSpPr txBox="1">
            <a:spLocks noGrp="1"/>
          </p:cNvSpPr>
          <p:nvPr>
            <p:ph type="body" idx="8"/>
          </p:nvPr>
        </p:nvSpPr>
        <p:spPr>
          <a:xfrm>
            <a:off x="5769864" y="3035808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body" idx="9"/>
          </p:nvPr>
        </p:nvSpPr>
        <p:spPr>
          <a:xfrm>
            <a:off x="5769864" y="3359250"/>
            <a:ext cx="5029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12"/>
          <p:cNvSpPr>
            <a:spLocks noGrp="1"/>
          </p:cNvSpPr>
          <p:nvPr>
            <p:ph type="pic" idx="13"/>
          </p:nvPr>
        </p:nvSpPr>
        <p:spPr>
          <a:xfrm>
            <a:off x="4455524" y="4382716"/>
            <a:ext cx="640080" cy="64008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12"/>
          <p:cNvSpPr txBox="1">
            <a:spLocks noGrp="1"/>
          </p:cNvSpPr>
          <p:nvPr>
            <p:ph type="body" idx="14"/>
          </p:nvPr>
        </p:nvSpPr>
        <p:spPr>
          <a:xfrm>
            <a:off x="5769864" y="4325112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body" idx="15"/>
          </p:nvPr>
        </p:nvSpPr>
        <p:spPr>
          <a:xfrm>
            <a:off x="5769864" y="4648554"/>
            <a:ext cx="5029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12"/>
          <p:cNvSpPr>
            <a:spLocks noGrp="1"/>
          </p:cNvSpPr>
          <p:nvPr>
            <p:ph type="pic" idx="16"/>
          </p:nvPr>
        </p:nvSpPr>
        <p:spPr>
          <a:xfrm>
            <a:off x="4455524" y="5675320"/>
            <a:ext cx="640080" cy="64008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12"/>
          <p:cNvSpPr txBox="1">
            <a:spLocks noGrp="1"/>
          </p:cNvSpPr>
          <p:nvPr>
            <p:ph type="body" idx="17"/>
          </p:nvPr>
        </p:nvSpPr>
        <p:spPr>
          <a:xfrm>
            <a:off x="5769864" y="5614416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12"/>
          <p:cNvSpPr txBox="1">
            <a:spLocks noGrp="1"/>
          </p:cNvSpPr>
          <p:nvPr>
            <p:ph type="body" idx="18"/>
          </p:nvPr>
        </p:nvSpPr>
        <p:spPr>
          <a:xfrm>
            <a:off x="5769864" y="5937858"/>
            <a:ext cx="5029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meline">
  <p:cSld name="Timeline">
    <p:bg>
      <p:bgPr>
        <a:solidFill>
          <a:schemeClr val="accent3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>
            <a:spLocks noGrp="1"/>
          </p:cNvSpPr>
          <p:nvPr>
            <p:ph type="body" idx="1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743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>
            <a:spLocks noGrp="1"/>
          </p:cNvSpPr>
          <p:nvPr>
            <p:ph type="body" idx="2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743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>
            <a:spLocks noGrp="1"/>
          </p:cNvSpPr>
          <p:nvPr>
            <p:ph type="body" idx="3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743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13"/>
          <p:cNvSpPr>
            <a:spLocks noGrp="1"/>
          </p:cNvSpPr>
          <p:nvPr>
            <p:ph type="body" idx="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743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13"/>
          <p:cNvSpPr>
            <a:spLocks noGrp="1"/>
          </p:cNvSpPr>
          <p:nvPr>
            <p:ph type="body" idx="5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743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bg>
      <p:bgPr>
        <a:solidFill>
          <a:schemeClr val="accent5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/>
          <p:nvPr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9" name="Google Shape;199;p14"/>
          <p:cNvSpPr txBox="1"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4"/>
          <p:cNvSpPr txBox="1"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6100" tIns="45700" rIns="6492225" bIns="4570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body" idx="2"/>
          </p:nvPr>
        </p:nvSpPr>
        <p:spPr>
          <a:xfrm>
            <a:off x="4645152" y="2007884"/>
            <a:ext cx="6408671" cy="133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1600"/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400"/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marL="1828800" lvl="3" indent="-2635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4pPr>
            <a:lvl5pPr marL="2286000" lvl="4" indent="-2635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14"/>
          <p:cNvSpPr txBox="1">
            <a:spLocks noGrp="1"/>
          </p:cNvSpPr>
          <p:nvPr>
            <p:ph type="body" idx="3"/>
          </p:nvPr>
        </p:nvSpPr>
        <p:spPr>
          <a:xfrm>
            <a:off x="892795" y="4005858"/>
            <a:ext cx="10268712" cy="1505315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6100" tIns="45700" rIns="6492225" bIns="4570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body" idx="4"/>
          </p:nvPr>
        </p:nvSpPr>
        <p:spPr>
          <a:xfrm>
            <a:off x="4645152" y="4093420"/>
            <a:ext cx="6408671" cy="133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1600"/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400"/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marL="1828800" lvl="3" indent="-2635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4pPr>
            <a:lvl5pPr marL="2286000" lvl="4" indent="-2635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sldNum" idx="12"/>
          </p:nvPr>
        </p:nvSpPr>
        <p:spPr>
          <a:xfrm>
            <a:off x="838200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ftr" idx="11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dt" idx="10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solidFill>
          <a:schemeClr val="accent4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 txBox="1"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1" name="Google Shape;211;p15"/>
          <p:cNvSpPr txBox="1">
            <a:spLocks noGrp="1"/>
          </p:cNvSpPr>
          <p:nvPr>
            <p:ph type="body" idx="1"/>
          </p:nvPr>
        </p:nvSpPr>
        <p:spPr>
          <a:xfrm>
            <a:off x="685800" y="1956816"/>
            <a:ext cx="5048882" cy="3986784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0025" tIns="5029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15"/>
          <p:cNvSpPr txBox="1">
            <a:spLocks noGrp="1"/>
          </p:cNvSpPr>
          <p:nvPr>
            <p:ph type="body" idx="2"/>
          </p:nvPr>
        </p:nvSpPr>
        <p:spPr>
          <a:xfrm>
            <a:off x="932688" y="2944368"/>
            <a:ext cx="4604512" cy="2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600"/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400"/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marL="1828800" lvl="3" indent="-2635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4pPr>
            <a:lvl5pPr marL="2286000" lvl="4" indent="-2635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15"/>
          <p:cNvSpPr txBox="1">
            <a:spLocks noGrp="1"/>
          </p:cNvSpPr>
          <p:nvPr>
            <p:ph type="body" idx="3"/>
          </p:nvPr>
        </p:nvSpPr>
        <p:spPr>
          <a:xfrm>
            <a:off x="6358128" y="1956816"/>
            <a:ext cx="5047488" cy="3986784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0025" tIns="5029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15"/>
          <p:cNvSpPr txBox="1">
            <a:spLocks noGrp="1"/>
          </p:cNvSpPr>
          <p:nvPr>
            <p:ph type="body" idx="4"/>
          </p:nvPr>
        </p:nvSpPr>
        <p:spPr>
          <a:xfrm>
            <a:off x="6600154" y="2944368"/>
            <a:ext cx="4608576" cy="2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600"/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400"/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marL="1828800" lvl="3" indent="-2635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4pPr>
            <a:lvl5pPr marL="2286000" lvl="4" indent="-2635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15"/>
          <p:cNvSpPr txBox="1">
            <a:spLocks noGrp="1"/>
          </p:cNvSpPr>
          <p:nvPr>
            <p:ph type="sldNum" idx="12"/>
          </p:nvPr>
        </p:nvSpPr>
        <p:spPr>
          <a:xfrm>
            <a:off x="838200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15"/>
          <p:cNvSpPr txBox="1">
            <a:spLocks noGrp="1"/>
          </p:cNvSpPr>
          <p:nvPr>
            <p:ph type="ftr" idx="11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5"/>
          <p:cNvSpPr txBox="1">
            <a:spLocks noGrp="1"/>
          </p:cNvSpPr>
          <p:nvPr>
            <p:ph type="dt" idx="10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bg>
      <p:bgPr>
        <a:solidFill>
          <a:schemeClr val="accent4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23" name="Google Shape;223;p16"/>
          <p:cNvSpPr txBox="1">
            <a:spLocks noGrp="1"/>
          </p:cNvSpPr>
          <p:nvPr>
            <p:ph type="body" idx="1"/>
          </p:nvPr>
        </p:nvSpPr>
        <p:spPr>
          <a:xfrm>
            <a:off x="685800" y="1956816"/>
            <a:ext cx="3246120" cy="3986784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0025" tIns="5029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type="body" idx="2"/>
          </p:nvPr>
        </p:nvSpPr>
        <p:spPr>
          <a:xfrm>
            <a:off x="932688" y="2944368"/>
            <a:ext cx="2743200" cy="2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600"/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400"/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marL="1828800" lvl="3" indent="-2635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4pPr>
            <a:lvl5pPr marL="2286000" lvl="4" indent="-2635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16"/>
          <p:cNvSpPr txBox="1">
            <a:spLocks noGrp="1"/>
          </p:cNvSpPr>
          <p:nvPr>
            <p:ph type="body" idx="3"/>
          </p:nvPr>
        </p:nvSpPr>
        <p:spPr>
          <a:xfrm>
            <a:off x="4480560" y="1956816"/>
            <a:ext cx="3246120" cy="3986784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0025" tIns="5029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16"/>
          <p:cNvSpPr txBox="1">
            <a:spLocks noGrp="1"/>
          </p:cNvSpPr>
          <p:nvPr>
            <p:ph type="body" idx="4"/>
          </p:nvPr>
        </p:nvSpPr>
        <p:spPr>
          <a:xfrm>
            <a:off x="4715873" y="2944368"/>
            <a:ext cx="2743200" cy="2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600"/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400"/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marL="1828800" lvl="3" indent="-2635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4pPr>
            <a:lvl5pPr marL="2286000" lvl="4" indent="-2635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body" idx="5"/>
          </p:nvPr>
        </p:nvSpPr>
        <p:spPr>
          <a:xfrm>
            <a:off x="8247888" y="1956816"/>
            <a:ext cx="3246120" cy="3986784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0025" tIns="5029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body" idx="6"/>
          </p:nvPr>
        </p:nvSpPr>
        <p:spPr>
          <a:xfrm>
            <a:off x="8489914" y="2944368"/>
            <a:ext cx="2743200" cy="2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600"/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400"/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marL="1828800" lvl="3" indent="-2635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4pPr>
            <a:lvl5pPr marL="2286000" lvl="4" indent="-2635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sldNum" idx="12"/>
          </p:nvPr>
        </p:nvSpPr>
        <p:spPr>
          <a:xfrm>
            <a:off x="838200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p16"/>
          <p:cNvSpPr txBox="1">
            <a:spLocks noGrp="1"/>
          </p:cNvSpPr>
          <p:nvPr>
            <p:ph type="ftr" idx="11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6"/>
          <p:cNvSpPr txBox="1">
            <a:spLocks noGrp="1"/>
          </p:cNvSpPr>
          <p:nvPr>
            <p:ph type="dt" idx="10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bg>
      <p:bgPr>
        <a:solidFill>
          <a:schemeClr val="accent2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"/>
          <p:cNvSpPr/>
          <p:nvPr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 b="0" i="0" u="none" strike="noStrike" cap="non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endParaRPr sz="1800" b="0" i="0" u="none" strike="noStrike" cap="non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5" name="Google Shape;235;p17"/>
          <p:cNvSpPr txBox="1"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7"/>
          <p:cNvSpPr>
            <a:spLocks noGrp="1"/>
          </p:cNvSpPr>
          <p:nvPr>
            <p:ph type="pic" idx="2"/>
          </p:nvPr>
        </p:nvSpPr>
        <p:spPr>
          <a:xfrm>
            <a:off x="0" y="0"/>
            <a:ext cx="4351128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37" name="Google Shape;237;p17"/>
          <p:cNvSpPr txBox="1">
            <a:spLocks noGrp="1"/>
          </p:cNvSpPr>
          <p:nvPr>
            <p:ph type="body" idx="1"/>
          </p:nvPr>
        </p:nvSpPr>
        <p:spPr>
          <a:xfrm>
            <a:off x="5961888" y="2944368"/>
            <a:ext cx="4818888" cy="213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17"/>
          <p:cNvSpPr txBox="1">
            <a:spLocks noGrp="1"/>
          </p:cNvSpPr>
          <p:nvPr>
            <p:ph type="sldNum" idx="12"/>
          </p:nvPr>
        </p:nvSpPr>
        <p:spPr>
          <a:xfrm>
            <a:off x="8072901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9" name="Google Shape;239;p17"/>
          <p:cNvCxnSpPr/>
          <p:nvPr/>
        </p:nvCxnSpPr>
        <p:spPr>
          <a:xfrm>
            <a:off x="4351128" y="6532618"/>
            <a:ext cx="369308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0" name="Google Shape;240;p17"/>
          <p:cNvCxnSpPr/>
          <p:nvPr/>
        </p:nvCxnSpPr>
        <p:spPr>
          <a:xfrm>
            <a:off x="8467344" y="6527001"/>
            <a:ext cx="3724656" cy="561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>
            <a:spLocks noGrp="1"/>
          </p:cNvSpPr>
          <p:nvPr>
            <p:ph type="sldNum" idx="12"/>
          </p:nvPr>
        </p:nvSpPr>
        <p:spPr>
          <a:xfrm>
            <a:off x="838200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18"/>
          <p:cNvSpPr txBox="1">
            <a:spLocks noGrp="1"/>
          </p:cNvSpPr>
          <p:nvPr>
            <p:ph type="ftr" idx="11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dt" idx="10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38200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>
            <a:off x="0" y="6535885"/>
            <a:ext cx="838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" name="Google Shape;16;p1"/>
          <p:cNvCxnSpPr/>
          <p:nvPr/>
        </p:nvCxnSpPr>
        <p:spPr>
          <a:xfrm>
            <a:off x="1205025" y="6535885"/>
            <a:ext cx="416052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17;p1"/>
          <p:cNvCxnSpPr/>
          <p:nvPr/>
        </p:nvCxnSpPr>
        <p:spPr>
          <a:xfrm>
            <a:off x="6802120" y="6528812"/>
            <a:ext cx="384048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" name="Google Shape;18;p1"/>
          <p:cNvCxnSpPr/>
          <p:nvPr/>
        </p:nvCxnSpPr>
        <p:spPr>
          <a:xfrm>
            <a:off x="11276341" y="6528816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"/>
          <p:cNvSpPr txBox="1">
            <a:spLocks noGrp="1"/>
          </p:cNvSpPr>
          <p:nvPr>
            <p:ph type="ctrTitle"/>
          </p:nvPr>
        </p:nvSpPr>
        <p:spPr>
          <a:xfrm>
            <a:off x="1222198" y="1857350"/>
            <a:ext cx="5413677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2105"/>
              <a:buFont typeface="Calibri"/>
              <a:buNone/>
            </a:pPr>
            <a:r>
              <a:rPr lang="en-US" sz="4222" b="1" u="sng" dirty="0">
                <a:latin typeface="Calibri"/>
                <a:ea typeface="Calibri"/>
                <a:cs typeface="Calibri"/>
                <a:sym typeface="Calibri"/>
              </a:rPr>
              <a:t>Project Debrief</a:t>
            </a:r>
            <a:br>
              <a:rPr lang="en-US" sz="4222" b="1" u="sng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4222" b="1" u="sng" dirty="0">
                <a:latin typeface="Calibri"/>
                <a:ea typeface="Calibri"/>
                <a:cs typeface="Calibri"/>
                <a:sym typeface="Calibri"/>
              </a:rPr>
              <a:t> Toronto’s Airbnb Market</a:t>
            </a:r>
            <a:endParaRPr sz="4222" b="1" u="sng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01492"/>
              <a:buFont typeface="Calibri"/>
              <a:buNone/>
            </a:pPr>
            <a:endParaRPr sz="5777" dirty="0"/>
          </a:p>
        </p:txBody>
      </p:sp>
      <p:sp>
        <p:nvSpPr>
          <p:cNvPr id="251" name="Google Shape;251;p19"/>
          <p:cNvSpPr txBox="1">
            <a:spLocks noGrp="1"/>
          </p:cNvSpPr>
          <p:nvPr>
            <p:ph type="subTitle" idx="1"/>
          </p:nvPr>
        </p:nvSpPr>
        <p:spPr>
          <a:xfrm>
            <a:off x="2182368" y="3346376"/>
            <a:ext cx="3913632" cy="188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    Presented By : Team 2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                    Adam, </a:t>
            </a:r>
            <a:r>
              <a:rPr lang="en-US" sz="1800" b="1" dirty="0" err="1">
                <a:latin typeface="Calibri"/>
                <a:ea typeface="Calibri"/>
                <a:cs typeface="Calibri"/>
                <a:sym typeface="Calibri"/>
              </a:rPr>
              <a:t>Sharlin</a:t>
            </a: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b="1" dirty="0" err="1">
                <a:latin typeface="Calibri"/>
                <a:ea typeface="Calibri"/>
                <a:cs typeface="Calibri"/>
                <a:sym typeface="Calibri"/>
              </a:rPr>
              <a:t>Yaowei</a:t>
            </a: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, Xiao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</p:txBody>
      </p:sp>
      <p:pic>
        <p:nvPicPr>
          <p:cNvPr id="252" name="Google Shape;252;p19" descr="A room with a couch and a tv&#10;&#10;Description automatically generate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3214" r="13998" b="-1"/>
          <a:stretch/>
        </p:blipFill>
        <p:spPr>
          <a:xfrm>
            <a:off x="6635876" y="1193235"/>
            <a:ext cx="4242692" cy="43027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53" name="Google Shape;253;p19" descr="A logo of university of calgary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860" y="812292"/>
            <a:ext cx="1058048" cy="854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8025-A4F7-CC88-9E47-23B194D7A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Summary</a:t>
            </a:r>
            <a:endParaRPr lang="en-IN" sz="48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2A0188-182F-FB14-4C3D-8C1F37B644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698FF-5E07-488F-BF05-DE6DC36B9042}"/>
              </a:ext>
            </a:extLst>
          </p:cNvPr>
          <p:cNvSpPr txBox="1"/>
          <p:nvPr/>
        </p:nvSpPr>
        <p:spPr>
          <a:xfrm>
            <a:off x="1203960" y="3117590"/>
            <a:ext cx="969001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are the characteristics of Toronto’s Airbnb market compared with other Canadian cities?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3810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Which factors have the most significant impact on the pricing of Airbnb listings in Toronto?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3810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How does a year-over-year comparison account for changes in the Airbnb market in Toronto?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3810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aspects of the Airbnb platform affect hosts' reviews and performance, do top rated hosts have anything in common, are there any differences between hosts with few listings vs many?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7E876-14D2-1B78-92B7-C11429B2FB4C}"/>
              </a:ext>
            </a:extLst>
          </p:cNvPr>
          <p:cNvSpPr txBox="1"/>
          <p:nvPr/>
        </p:nvSpPr>
        <p:spPr>
          <a:xfrm>
            <a:off x="1203960" y="1798382"/>
            <a:ext cx="9374702" cy="187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3750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5"/>
              <a:buFont typeface="Calibri"/>
              <a:buChar char="●"/>
            </a:pPr>
            <a:r>
              <a:rPr lang="en-US" sz="1800" i="0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r>
              <a:rPr lang="en-US" sz="1800" i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We aim to explore 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Toronto Airbnb listings for potential investors and understand key factors that impact rental prices, hosts performance, and comparison with other major Canadian cities </a:t>
            </a:r>
          </a:p>
          <a:p>
            <a:pPr marL="457200" lvl="0" indent="-33750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5"/>
              <a:buFont typeface="Calibri"/>
              <a:buChar char="●"/>
            </a:pPr>
            <a:r>
              <a:rPr lang="en-US" sz="180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Airbnb has become a major influencer in the real estate sector</a:t>
            </a:r>
          </a:p>
          <a:p>
            <a:pPr marL="119698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5"/>
            </a:pPr>
            <a:endParaRPr lang="en-US" sz="18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750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5"/>
              <a:buFont typeface="Calibri"/>
              <a:buChar char="●"/>
            </a:pPr>
            <a:r>
              <a:rPr lang="en-US" sz="1800" u="sng" dirty="0">
                <a:latin typeface="Calibri"/>
                <a:ea typeface="Calibri"/>
                <a:cs typeface="Calibri"/>
                <a:sym typeface="Calibri"/>
              </a:rPr>
              <a:t>Guiding Question Overview:</a:t>
            </a:r>
            <a:endParaRPr lang="en-US" sz="1800" i="0" u="sng" strike="noStrik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9698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5"/>
            </a:pPr>
            <a:endParaRPr lang="en-US" sz="1800" dirty="0">
              <a:latin typeface="Calibri"/>
              <a:ea typeface="Calibri"/>
              <a:cs typeface="Calibri"/>
              <a:sym typeface="Calibri"/>
            </a:endParaRPr>
          </a:p>
          <a:p>
            <a:pPr marL="119698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5"/>
            </a:pPr>
            <a:endParaRPr lang="en-US" sz="1800" i="0" u="none" strike="noStrik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21" descr="A water fountain in front of a city&#10;&#10;Description automatically generated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 l="31901" r="5310" b="-1"/>
          <a:stretch/>
        </p:blipFill>
        <p:spPr>
          <a:xfrm>
            <a:off x="9594841" y="363640"/>
            <a:ext cx="2282952" cy="2326814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928243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3"/>
          <p:cNvSpPr txBox="1">
            <a:spLocks noGrp="1"/>
          </p:cNvSpPr>
          <p:nvPr>
            <p:ph type="title"/>
          </p:nvPr>
        </p:nvSpPr>
        <p:spPr>
          <a:xfrm>
            <a:off x="1575254" y="947502"/>
            <a:ext cx="50382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u="sng"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4800" u="sng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p43" descr="A notebook with a pe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7469" y="2294481"/>
            <a:ext cx="3895344" cy="2269037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3"/>
          <p:cNvSpPr txBox="1">
            <a:spLocks noGrp="1"/>
          </p:cNvSpPr>
          <p:nvPr>
            <p:ph type="sldNum" idx="12"/>
          </p:nvPr>
        </p:nvSpPr>
        <p:spPr>
          <a:xfrm>
            <a:off x="3962400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47" name="Google Shape;547;p43"/>
          <p:cNvSpPr txBox="1"/>
          <p:nvPr/>
        </p:nvSpPr>
        <p:spPr>
          <a:xfrm>
            <a:off x="966250" y="1746125"/>
            <a:ext cx="6256200" cy="3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Toronto has the most active Airbnb market but competitive.</a:t>
            </a:r>
          </a:p>
          <a:p>
            <a:pPr marL="457200" indent="-342900"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listings in Toronto is dramatically ahead of other cities.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customer, Toronto is a good market, reasonable price, more choices.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switch to more long term rentals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Growth in hosts with multiple listings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Hosts should make their limit effort into more effective aspects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3"/>
          <p:cNvSpPr txBox="1">
            <a:spLocks noGrp="1"/>
          </p:cNvSpPr>
          <p:nvPr>
            <p:ph type="title"/>
          </p:nvPr>
        </p:nvSpPr>
        <p:spPr>
          <a:xfrm>
            <a:off x="1575254" y="947502"/>
            <a:ext cx="50382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u="sng"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4800" u="sng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p43" descr="A notebook with a pe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7469" y="2294481"/>
            <a:ext cx="3895344" cy="2269037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3"/>
          <p:cNvSpPr txBox="1">
            <a:spLocks noGrp="1"/>
          </p:cNvSpPr>
          <p:nvPr>
            <p:ph type="sldNum" idx="12"/>
          </p:nvPr>
        </p:nvSpPr>
        <p:spPr>
          <a:xfrm>
            <a:off x="3962400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547" name="Google Shape;547;p43"/>
          <p:cNvSpPr txBox="1"/>
          <p:nvPr/>
        </p:nvSpPr>
        <p:spPr>
          <a:xfrm>
            <a:off x="-720660" y="1099739"/>
            <a:ext cx="6256200" cy="3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135430-C6C2-B8B4-9721-38FF419C99E6}"/>
              </a:ext>
            </a:extLst>
          </p:cNvPr>
          <p:cNvSpPr txBox="1"/>
          <p:nvPr/>
        </p:nvSpPr>
        <p:spPr>
          <a:xfrm>
            <a:off x="966250" y="2017986"/>
            <a:ext cx="666426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Amenity-based analysis shows that certain features, like TV, pool, further increase pricing potential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According to heatmap, number of accommodates, bedrooms and beds variables have a moderate positive relationship with the target variable-’price’</a:t>
            </a: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Listings with higher review scores and more reviews tend to attract higher prices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844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4"/>
          <p:cNvSpPr txBox="1">
            <a:spLocks noGrp="1"/>
          </p:cNvSpPr>
          <p:nvPr>
            <p:ph type="title"/>
          </p:nvPr>
        </p:nvSpPr>
        <p:spPr>
          <a:xfrm>
            <a:off x="1076452" y="258064"/>
            <a:ext cx="9912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u="sng" dirty="0">
                <a:latin typeface="Calibri"/>
                <a:ea typeface="Calibri"/>
                <a:cs typeface="Calibri"/>
                <a:sym typeface="Calibri"/>
              </a:rPr>
              <a:t>Project Status </a:t>
            </a:r>
            <a:endParaRPr sz="4800" u="sng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4"/>
          <p:cNvSpPr txBox="1">
            <a:spLocks noGrp="1"/>
          </p:cNvSpPr>
          <p:nvPr>
            <p:ph type="sldNum" idx="12"/>
          </p:nvPr>
        </p:nvSpPr>
        <p:spPr>
          <a:xfrm>
            <a:off x="838200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54" name="Google Shape;554;p44"/>
          <p:cNvSpPr txBox="1"/>
          <p:nvPr/>
        </p:nvSpPr>
        <p:spPr>
          <a:xfrm>
            <a:off x="723905" y="1195159"/>
            <a:ext cx="9912000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to incorporate future work and feedbacks: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57" name="Google Shape;557;p44"/>
          <p:cNvSpPr txBox="1"/>
          <p:nvPr/>
        </p:nvSpPr>
        <p:spPr>
          <a:xfrm>
            <a:off x="5490050" y="6383775"/>
            <a:ext cx="1313100" cy="2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Airbnb</a:t>
            </a:r>
            <a:endParaRPr sz="2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58" name="Google Shape;558;p44"/>
          <p:cNvSpPr txBox="1"/>
          <p:nvPr/>
        </p:nvSpPr>
        <p:spPr>
          <a:xfrm>
            <a:off x="10635900" y="6383775"/>
            <a:ext cx="6018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2024</a:t>
            </a:r>
            <a:endParaRPr sz="2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E186D0-1206-E4C5-5E1A-FDAB59398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898517"/>
              </p:ext>
            </p:extLst>
          </p:nvPr>
        </p:nvGraphicFramePr>
        <p:xfrm>
          <a:off x="1021080" y="1736122"/>
          <a:ext cx="8127999" cy="3373120"/>
        </p:xfrm>
        <a:graphic>
          <a:graphicData uri="http://schemas.openxmlformats.org/drawingml/2006/table">
            <a:tbl>
              <a:tblPr firstRow="1" bandRow="1">
                <a:tableStyleId>{438B95EE-31E1-4348-9D6E-1D30F56D9886}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05103190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616601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08939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 map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Future work</a:t>
                      </a:r>
                      <a:r>
                        <a:rPr lang="en-IN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 Oct 08, 2024</a:t>
                      </a:r>
                      <a:endParaRPr lang="en-US" sz="14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88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Further exploration on the relationship between 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room_type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and price. 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Minimum_booking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nights and price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684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Prediction Model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Work- Oct 09, 2024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515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Investigate how ‘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neighbourhood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 and 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Amenties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differences influence pricing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Recommendation- Oct 10, 2024</a:t>
                      </a:r>
                      <a:endParaRPr lang="en-US" sz="16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614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619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102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195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4"/>
          <p:cNvSpPr txBox="1">
            <a:spLocks noGrp="1"/>
          </p:cNvSpPr>
          <p:nvPr>
            <p:ph type="title"/>
          </p:nvPr>
        </p:nvSpPr>
        <p:spPr>
          <a:xfrm>
            <a:off x="1076452" y="258064"/>
            <a:ext cx="9912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u="sng" dirty="0">
                <a:latin typeface="Calibri"/>
                <a:ea typeface="Calibri"/>
                <a:cs typeface="Calibri"/>
                <a:sym typeface="Calibri"/>
              </a:rPr>
              <a:t>Timeline </a:t>
            </a:r>
            <a:endParaRPr sz="4800" u="sng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4"/>
          <p:cNvSpPr txBox="1">
            <a:spLocks noGrp="1"/>
          </p:cNvSpPr>
          <p:nvPr>
            <p:ph type="sldNum" idx="12"/>
          </p:nvPr>
        </p:nvSpPr>
        <p:spPr>
          <a:xfrm>
            <a:off x="838200" y="6400904"/>
            <a:ext cx="365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554" name="Google Shape;554;p44"/>
          <p:cNvSpPr txBox="1"/>
          <p:nvPr/>
        </p:nvSpPr>
        <p:spPr>
          <a:xfrm>
            <a:off x="723905" y="1195159"/>
            <a:ext cx="9912000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Timeline for next milestones: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aphicFrame>
        <p:nvGraphicFramePr>
          <p:cNvPr id="556" name="Google Shape;556;p44"/>
          <p:cNvGraphicFramePr/>
          <p:nvPr>
            <p:extLst>
              <p:ext uri="{D42A27DB-BD31-4B8C-83A1-F6EECF244321}">
                <p14:modId xmlns:p14="http://schemas.microsoft.com/office/powerpoint/2010/main" val="3608099441"/>
              </p:ext>
            </p:extLst>
          </p:nvPr>
        </p:nvGraphicFramePr>
        <p:xfrm>
          <a:off x="838200" y="2210059"/>
          <a:ext cx="10287000" cy="1188630"/>
        </p:xfrm>
        <a:graphic>
          <a:graphicData uri="http://schemas.openxmlformats.org/drawingml/2006/table">
            <a:tbl>
              <a:tblPr>
                <a:noFill/>
                <a:tableStyleId>{438B95EE-31E1-4348-9D6E-1D30F56D9886}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Working on Challenges- Incorporating future work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Oct 11th, 2024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Draft Report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Oct 14th, 2024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Project Final Report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Oct 17th, 2024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7" name="Google Shape;557;p44"/>
          <p:cNvSpPr txBox="1"/>
          <p:nvPr/>
        </p:nvSpPr>
        <p:spPr>
          <a:xfrm>
            <a:off x="5490050" y="6383775"/>
            <a:ext cx="1313100" cy="2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Airbnb</a:t>
            </a:r>
            <a:endParaRPr sz="2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58" name="Google Shape;558;p44"/>
          <p:cNvSpPr txBox="1"/>
          <p:nvPr/>
        </p:nvSpPr>
        <p:spPr>
          <a:xfrm>
            <a:off x="10635900" y="6383775"/>
            <a:ext cx="6018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2024</a:t>
            </a:r>
            <a:endParaRPr sz="2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5"/>
          <p:cNvSpPr txBox="1">
            <a:spLocks noGrp="1"/>
          </p:cNvSpPr>
          <p:nvPr>
            <p:ph type="subTitle" idx="1"/>
          </p:nvPr>
        </p:nvSpPr>
        <p:spPr>
          <a:xfrm>
            <a:off x="1527048" y="2756916"/>
            <a:ext cx="3913632" cy="188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pic>
        <p:nvPicPr>
          <p:cNvPr id="564" name="Google Shape;564;p4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8173" t="18330" r="7980" b="17499"/>
          <a:stretch/>
        </p:blipFill>
        <p:spPr>
          <a:xfrm>
            <a:off x="3066393" y="1140082"/>
            <a:ext cx="6059213" cy="4280362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565" name="Google Shape;565;p45" descr="A logo of university of calgary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663" y="831797"/>
            <a:ext cx="1382057" cy="1116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365</Words>
  <Application>Microsoft Office PowerPoint</Application>
  <PresentationFormat>Widescreen</PresentationFormat>
  <Paragraphs>61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Karla</vt:lpstr>
      <vt:lpstr>Arial</vt:lpstr>
      <vt:lpstr>Calibri</vt:lpstr>
      <vt:lpstr>Open Sans Light</vt:lpstr>
      <vt:lpstr>Century Gothic</vt:lpstr>
      <vt:lpstr>Office Theme</vt:lpstr>
      <vt:lpstr>Project Debrief  Toronto’s Airbnb Market </vt:lpstr>
      <vt:lpstr>Project Summary</vt:lpstr>
      <vt:lpstr>Key Takeaways</vt:lpstr>
      <vt:lpstr>Key Takeaways</vt:lpstr>
      <vt:lpstr>Project Status </vt:lpstr>
      <vt:lpstr>Timeline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Nitnem Grewal</cp:lastModifiedBy>
  <cp:revision>4</cp:revision>
  <dcterms:modified xsi:type="dcterms:W3CDTF">2024-10-07T22:35:40Z</dcterms:modified>
</cp:coreProperties>
</file>